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DBMS LABORATORY (06123228) • SUMMER 2026</a:t>
            </a:r>
          </a:p>
          <a:p>
            <a:pPr>
              <a:defRPr sz="5000" b="1">
                <a:solidFill>
                  <a:srgbClr val="FFFFFF"/>
                </a:solidFill>
              </a:defRPr>
            </a:pPr>
            <a:r>
              <a:t>ORCUS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Organized Crime Understanding System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 3NF-compliant relational database platform engineered to modernize criminal complaint intake, statutory FIR registration, multi-officer case management, and tamper-proof evidence chain-of-custody for Bangladesh Police.</a:t>
            </a:r>
          </a:p>
          <a:p>
            <a:pPr>
              <a:spcBef>
                <a:spcPts val="1600"/>
              </a:spcBef>
              <a:defRPr sz="1100" b="1">
                <a:solidFill>
                  <a:srgbClr val="F59E0B"/>
                </a:solidFill>
              </a:defRPr>
            </a:pPr>
            <a:r>
              <a:t>Academic Project Team &amp; Module Ownership: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Md. Arafat Hossain Faisal (ID: 241400060) [Team Lead - Module 1: Architecture, Security, RBAC &amp; Audit]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A.K. Md. Shakil Hossain (ID: 241400043) [Investigation Lead - Module 2: Intake, GD, FIR &amp; Cases]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Ayshee Islam Liza (ID: 241400045) [Forensic Lead - Module 3: Participants, Geocoding &amp; Custody]</a:t>
            </a:r>
          </a:p>
          <a:p>
            <a:pPr>
              <a:spcBef>
                <a:spcPts val="1400"/>
              </a:spcBef>
              <a:defRPr sz="1100" i="1">
                <a:solidFill>
                  <a:srgbClr val="06B6D4"/>
                </a:solidFill>
              </a:defRPr>
            </a:pPr>
            <a:r>
              <a:t>Presented to: Course Faculty Evaluator ("Mam") | Department of CSE</a:t>
            </a:r>
          </a:p>
        </p:txBody>
      </p:sp>
      <p:pic>
        <p:nvPicPr>
          <p:cNvPr id="4" name="Picture 3" descr="hero_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4389120" cy="2449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PROBLEM CONTEXT &amp; ANALYSIS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Crisis of Manual Investigation Management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Challenges in paper-based Police Stations (Thanas) across Bangladesh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1. Evidence Tampering in Trials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Physical and digital evidence seized at crime scenes lacks verifiable provenance. Without unbroken timestamps and seal registries, defense attorneys routinely secure dismissals under Section 9 of the Evidence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Citizen Complaint Black Hole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Citizens filing grievances receive handwritten slips with no tracking. Complainants cannot determine if their inquiry was converted to a GD, elevated to an FIR, or dropped without repeated station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Trans-Regional Crime Silos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Criminal syndicates operate across Dhaka, Chattogram Port, Sylhet, and Rajshahi border corridors. Paper files prevent inter-branch intelligence sharing and suspect recidivism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The ORCUS Relational Solution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 unified 3NF relational database connecting 5 regional commands, enforcing atomic tracking sequences (CMP, GD, FIR, CAS), SHA-256 evidence hashing, and an immutable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3-Tier Decoupled Enterprise Architecture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Strict separation of concerns guaranteeing security, scale, and data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TIER 1 • PRESENTATION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Next.js 14 App Router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React 18 &amp; TypeScript strict types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Bilingual Interface (English &amp; Bengali)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Citizen Public Complaint &amp; Tracking Portal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Officer Command Center &amp; Global Search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ZERO token storage in localStorage (XSS-safe)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TIER 2 • BUSINESS LOGIC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Go (Golang) Microservice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High-performance Gin web framework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Bcrypt password hashing (Cost = 10)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Stateless JWT in secure HttpOnly cookies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Role-Based Access Control (RBAC) middleware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Immutable security &amp; change audit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TIER 3 • STORAGE ENGINE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MySQL 8.0+ / InnoDB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28 Tables normalized to strict 3NF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Strict Foreign Key Referential Integrity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ON DELETE RESTRICT on core investigation assets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Stored procedures &amp; operational views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✔ ACID transaction isolation guaranteeing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DATABASE NORMALIZATION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Relational Schema Design &amp; 3NF Proof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Zero data redundancy and complete elimination of operational anomalies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Mathematical Normalization Proof</a:t>
            </a:r>
          </a:p>
          <a:p>
            <a:pPr>
              <a:spcBef>
                <a:spcPts val="1000"/>
              </a:spcBef>
              <a:defRPr sz="1200" b="1">
                <a:solidFill>
                  <a:srgbClr val="06B6D4"/>
                </a:solidFill>
              </a:defRPr>
            </a:pPr>
            <a:r>
              <a:t>1. First Normal Form (1NF)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All attributes contain atomic values. Multi-valued contacts (phone, email) extracted into dedicated child entity complainant_contact. Every table possesses an unambiguous primary key.</a:t>
            </a:r>
          </a:p>
          <a:p>
            <a:pPr>
              <a:spcBef>
                <a:spcPts val="1000"/>
              </a:spcBef>
              <a:defRPr sz="1200" b="1">
                <a:solidFill>
                  <a:srgbClr val="06B6D4"/>
                </a:solidFill>
              </a:defRPr>
            </a:pPr>
            <a:r>
              <a:t>2. Second Normal Form (2NF)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Meets 1NF. All non-key attributes are fully functionally dependent on the entire primary key. In composite bridge tables (case_suspect, case_victim), operational roles depend strictly on the composite key pair.</a:t>
            </a:r>
          </a:p>
          <a:p>
            <a:pPr>
              <a:spcBef>
                <a:spcPts val="1000"/>
              </a:spcBef>
              <a:defRPr sz="1200" b="1">
                <a:solidFill>
                  <a:srgbClr val="06B6D4"/>
                </a:solidFill>
              </a:defRPr>
            </a:pPr>
            <a:r>
              <a:t>3. Third Normal Form (3NF)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Meets 2NF. No transitive dependencies exist (X -&gt; Y -&gt; Z). Officer badge numbers, branch details, and user credentials reside in distinct entities, preventing cascading corruption upon profile 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Referential Integrity &amp; Constraints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ON DELETE RESTRICT: Applied to master operational records. A case cannot be deleted if active evidence exists; a branch cannot be dropped if assigned to officers.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ON DELETE CASCADE: Applied strictly to transient bridge associations (e.g. dropping a case cascades to its case_suspect and case_witness junctions).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Atomic Sequence Generator: A dedicated system_sequence table atomically increments reference counters, generating gapless statutory IDs: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  CMP-2026-0801 Citizen Complaint Tracking Code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  GD-DHK-2026-0012 Metropolitan General Diary Number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  FIR-2026-0101 Statutory First Information Report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  CAS-2026-0001 Master Police Investigation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TEAM CONTRIBUTION &amp; SCOPE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Academic Division of Responsibilities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3 Independent functional modules harmoniously bound via relational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1 • LEAD ARCHITECT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Md. Arafat Hossain Faisal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</a:defRPr>
            </a:pPr>
            <a:r>
              <a:t>ID: 241400060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Core Relational Schema Design &amp; 3NF Normalization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User Authentication (JWT HttpOnly, Bcrypt)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Role-Based Access Control (RBAC)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Agency Branches &amp; Regional Commands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Security Audit Logging (`audit_log`)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Root Admin Protection (`user_id = 1`)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 2 • INVESTIGATION LEAD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A.K. Md. Shakil Hossain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</a:defRPr>
            </a:pPr>
            <a:r>
              <a:t>ID: 241400043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Citizen Complaint Intake &amp; Public Tracking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Duty Officer Review &amp; GD Escalations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Statutory First Information Report (FIR)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Penal Code &amp; Cyber Security Act Sections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Case Master Dossier &amp; Lead IO Assignments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Status Transition Timelines &amp; Histories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MODULE 3 • FORENSIC LEAD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Ayshee Islam Liza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</a:defRPr>
            </a:pPr>
            <a:r>
              <a:t>ID: 241400045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Criminal Participants Profiling (Suspects)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Victim Trauma Notes &amp; Witness Statements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GIS Location Geocoding (`location`)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Physical &amp; Digital Evidence Ingestion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Tamper-Evident Seals &amp; SHA-256 Hashes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Multi-Hop Chain of Custody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OPERATIONAL LIFECYCLE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Complete Investigation Workflow Pipeline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From public citizen complaint intake to judicial trial exhibit</a:t>
            </a:r>
          </a:p>
        </p:txBody>
      </p:sp>
      <p:pic>
        <p:nvPicPr>
          <p:cNvPr id="4" name="Picture 3" descr="workflow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51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1: Citizen Complaint Intake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Complainant submits incident report; system allocates atomic tracking code (CMP-2026-0801). Complainant tracks progress publicly without exposing officer notes.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Step 2: General Diary (GD) Logging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Duty officer conducts preliminary inquiry under Police Regulations Bengal; formal station GD approved (GD-DHK-2026-0012) with geographical jurisdiction.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Step 3: Statutory FIR Registration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Cognizable elements substantiated under CrPC Sec 154. First Information Report registered (FIR-2026-0101) with Bangladesh Penal Code Sections (Sec 420, 120B).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Step 4: Case Dossier &amp; IO Delegation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Master case opened (CAS-2026-0001); elite detective assigned as Lead Investigating Officer. Mandatory status updates recorded in case_status_history.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Step 5: Suspects &amp; Evidence Seizure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Suspects and witnesses mapped with operational roles. Physical &amp; digital items seized with tamper seal numbers (SEAL-DHK-0091) and bitstream SHA-256 hashes.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Step 6: Multi-Hop Chain of Custody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Every movement logged (Scene -&gt; Lab -&gt; Vault -&gt; Court). Formally admitted as physical Exhibit P-1 leading to judicial conviction decree.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FORENSIC INTEGRITY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Chain of Custody &amp; Evidence Act Compliance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Cryptographic hashes and sealed provenance guaranteeing court admissibility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Legal Due Process &amp; Verification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1. Evidence Act Section 9 Admissibility: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Criminal courts require uninterrupted proof that evidence has not been altered or substituted from the moment of seizure to trial exhibit admission.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2. SHA-256 Digital Checksums: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Every digital artifact (flash drive, disk image, VoIP audio) receives an immediate SHA-256 hash. If even 1 bit changes, the cryptographic hash mismatches.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3. Numbered Tamper-Evident Seals: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Physical evidence containers receive barcode-numbered tamper seals (e.g. SEAL-DHK-0091) recorded in the database.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4. Custodian Sign-Over Contract: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Both the releasing officer and receiving officer must sign off on transfer reason, destination facility, and seal condition.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Actual Audit Trail: EV-2026-0001-01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Item Description: Encrypted 128GB SanDisk USB Flash Drive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Seizure Location: Banani Suspect Workstation Safehouse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Cryptographic Hash: e3b0c44298fc1c149afbf4c8996fb92427ae41e4649...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Seal Reference: SEAL-DHK-0091 (Condition: Intact)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Hop 1 (Initial Collection): Seized by Lead Insp. Faisal -&gt; HQ Reception Desk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Hop 2 (Lab Analysis): Transferred to Forensic Lead Liza -&gt; Lab Locker D1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Hop 3 (Court Exhibition): Formally admitted in Dhaka Metropolitan Sessions Court as Exhibit P-1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Result: Zero provenance gaps; unanimous judicial admission decree.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DEMONSTRATION DATASET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Real-World Criminal Investigation Scenarios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5 Fully-fleshed Bangladesh Police operations ready for live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3F5E"/>
                </a:solidFill>
              </a:defRPr>
            </a:pPr>
            <a:r>
              <a:t>CAS-2026-0001 • Central HQ (Dhaka)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Operation Shadow Wire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45M BDT SWIFT cyber fraud exfiltration targeting corporate bank accounts. Evidence: Encrypted USB Drive &amp; forged bank authorizations. Penal Code 420, 120B, CSA 17.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CAS-2026-0002 • Port Zone (Chattogram)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Operation Kraken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Tampered maritime shipping container #MSKU-998241 at Berth 9 concealing military night-optics and satellite phones. Customs Act 156.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3F5E"/>
                </a:solidFill>
              </a:defRPr>
            </a:pPr>
            <a:r>
              <a:t>CAS-2026-0003 • Central HQ (Dhaka)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Operation Iron Shield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Armed cartel extortion demanding 20M BDT with vehicle gunfire in Gulshan. Evidence: 9mm Beretta pistol &amp; intercepted VoIP audio. Penal Code 384, 395.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4114800"/>
            <a:ext cx="33832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251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CAS-2026-0004 • Northern Regional (Rajshahi)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Operation Silver Mint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Clandestine press printing 42.5M counterfeit BDT. Precision steel intaglio plates seized. Status: Successfully closed with unanimous conviction.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33832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CAS-2026-0005 • Northern Regional (Rajshahi)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Operation Black Grid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SCADA RTU intrusion at Regional Substation 4 triggering 4-hour blackout. Evidence: Forensic RAM bitstream memory image. CSA Sec 17.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QUALITY ASSURANCE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Automated Test Harness &amp; Verification Proof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100% Pass rate across authentication, RBAC boundaries, and route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87 / 87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7830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Automated Suites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28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HTTP Routes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Security Breaches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728655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1018001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Comprehensive Automated Test Suites Summary: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Strict Authentication &amp; Authorization (15 tests): HttpOnly session cookie validation, expired session revoking, role separation, and XSS client storage audit (Zero tokens in localStorage).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2. Record Deletion Capabilities (6 tests): Root admin (user_id = 1) unbypassable 403 Forbidden protection; verified transactional cascade deletion of complaints, GDs, FIRs, evidence, and cases.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3. Deterministic Core Workflow (11 tests): End-to-end simulated operational journey from citizen complaint submission to GD elevation, FIR filing, IO delegation, custody handover, and case closure.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4. Strict Route Verification (42 tests): Guarantees 200 OK across all authenticated operational portals and mandatory 307 Redirect to /login for unauthenticated visitors.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ACADEMIC EVALUATION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Live Demonstration Readiness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Thank you for your guidance throughout the Summer 2026 DBMS semester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 Project Achievements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Mathematically Sound: 28 tables fully normalized to 3NF eliminating all operational anomalies.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Judicial Admissibility: Tamper-proof evidence custody with SHA-256 hashes and seal tracking under Evidence Act Sec 9.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Citizen Transparency: Public complaint filing and tracking portal with bilingual English/Bengali support.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Production Security: Stateless JWT in HttpOnly cookies, Bcrypt password hashing, and immutable audit logs.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Real Law Enforcement Dataset: 5 complex multi-district criminal cases with legal Penal Code sections.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Ready for Faculty Evaluation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F59E0B"/>
                </a:solidFill>
              </a:defRPr>
            </a:pPr>
            <a:r>
              <a:t>Live Demonstration Credentials: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Use 1-Click Instant Logins on Portal Login Screen:</a:t>
            </a:r>
            <a:br/>
            <a:r>
              <a:t>• Admin (Faisal)</a:t>
            </a:r>
            <a:br/>
            <a:r>
              <a:t>• Lead Det. (Shakil)</a:t>
            </a:r>
            <a:br/>
            <a:r>
              <a:t>• Forensic (Liza)</a:t>
            </a:r>
            <a:br/>
            <a:r>
              <a:t>• Duty Off. (Nusrat)</a:t>
            </a:r>
            <a:br/>
            <a:r>
              <a:t>• Inspector (Tariq)</a:t>
            </a:r>
          </a:p>
          <a:p>
            <a:pPr algn="ctr">
              <a:spcBef>
                <a:spcPts val="1600"/>
              </a:spcBef>
              <a:defRPr sz="1100" i="1">
                <a:solidFill>
                  <a:srgbClr val="06B6D4"/>
                </a:solidFill>
              </a:defRPr>
            </a:pPr>
            <a:r>
              <a:t>We welcome questions on Relational Theory, Normalization Proofs, SQL Triggers, Views &amp; System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